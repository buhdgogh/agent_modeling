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103600" cy="8801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B123-A6D6-4FB8-AABF-67DCA803DD3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06425" y="1143000"/>
            <a:ext cx="5645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7E070-A2A3-46C6-94D7-3CBE60B2B1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97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E070-A2A3-46C6-94D7-3CBE60B2B1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11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BAD28-C86C-D4D6-D87B-430C909D8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2950" y="1440366"/>
            <a:ext cx="12077700" cy="3064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7A9521-9EA5-9052-A924-3904E4DCB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950" y="4622618"/>
            <a:ext cx="12077700" cy="212489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C7F31-90AC-0C84-6813-D57C3A97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33CD0-A36F-BE84-9219-505512B2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631BA-773E-1528-0264-5E225A76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42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743DA-F7EC-3122-2901-27C3C250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FDEC06-DAD3-7B5C-6FEB-85784C1FF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97551E-0A24-CD7F-3D31-8F2E737B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89930E-21E6-FE01-4F01-C6467F5E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81553-2634-8EBE-2307-87EA6CFA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90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4CA77-6E36-C31D-B78E-2FC7DBF3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36" y="2194164"/>
            <a:ext cx="13889355" cy="36610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BD44C1-0106-8C0F-AF5F-249E472D1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736" y="5889814"/>
            <a:ext cx="13889355" cy="19252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9E462-C61B-05D0-89FC-EAD1A15F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FA3F1C-880B-1998-8054-0DD1C79E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517E0-7DB3-21A1-C741-A7C01CD6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28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19B9E-922D-ADF6-7CA7-4FA79C18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F80C5A-40C8-DF0D-50E8-23D82CA9B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7123" y="2342887"/>
            <a:ext cx="6844030" cy="55842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CC7BC-CE74-FBAB-69DF-D4E3B2E09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2448" y="2342887"/>
            <a:ext cx="6844030" cy="55842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10EDE5-A701-3060-0850-F5D69C27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1F8DE1-33AE-FB9F-8B60-8AFBA24C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3D0667-4EE2-3F36-6C5F-FCA0383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0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1EE5D-9B0A-55A1-DE71-9841221E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221" y="468578"/>
            <a:ext cx="13889355" cy="17011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1966BB-01FF-4A67-0A3F-289A34426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223" y="2157494"/>
            <a:ext cx="6812577" cy="10573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5F14A1-35FE-C35F-3ACA-EF1B5B679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9223" y="3214847"/>
            <a:ext cx="6812577" cy="47285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E3B217-E868-8D89-E157-05766A10C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2449" y="2157494"/>
            <a:ext cx="6846127" cy="10573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4CF2FB-8DA5-3D6F-42B4-31963B4B3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2449" y="3214847"/>
            <a:ext cx="6846127" cy="47285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2B909B-A5C7-9762-CD21-39309B1B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C9E3CF-9CA8-2CC7-E453-C03D6A6D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F2195D-6AA5-301B-6CC2-906DD0EA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63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30F0C-88DF-932B-D7F5-4929F80A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C9C818-E043-61FD-F5F1-2C458707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71FD55-82CD-EC99-6449-1E5B4BE4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BE4601-1B9D-8FB1-FB0D-580DC369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87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4E23C8-DFFA-6BC3-04FF-007E1FAA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17E291-556A-476A-00FA-E4399390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B1B06D-8DD7-11F9-0FC6-D2687E9F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5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F6E95-0771-6CA1-4471-F2F49EC4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222" y="586742"/>
            <a:ext cx="5193830" cy="205359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3BE5F-7ED3-2F54-23E6-DFE8D95C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27" y="1267196"/>
            <a:ext cx="8152448" cy="62544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BAA11C-D6DD-B90F-CB99-94835268A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9222" y="2640330"/>
            <a:ext cx="5193830" cy="4891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ACEA57-39C7-90A5-ED52-C393A6AA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F0611A-010B-0F4B-4DA3-0217857F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5CDC10-BF4F-B08C-5E3E-DD9526E5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99882-EF72-C142-EC86-D0FB5634E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222" y="586742"/>
            <a:ext cx="5193830" cy="205359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877831-AB95-658B-265E-8953BB3D380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846127" y="1267196"/>
            <a:ext cx="8152448" cy="625448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483B4C-1CBC-0B9B-F1A9-9229BBF6D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9222" y="2640330"/>
            <a:ext cx="5193830" cy="4891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35853F-656A-A5B3-CF80-DBF53B84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92341E-4DC5-9E9A-3AD5-268BEC1F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15713D-EA00-BF28-E25D-BDFB7A98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5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F1E1-53D0-6A54-7CC8-D101BCAA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AA9156-4513-A663-DB10-159776405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EC3AC-4797-E694-5298-957754A3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A3C29-64AA-A48F-BEA6-343E0795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7E6CA-977B-5CA1-EE28-629041B3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40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723C4A-9DFD-484E-D0A9-1A4AFF5CC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524140" y="468579"/>
            <a:ext cx="3472339" cy="7458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019309-1374-6B42-4659-C03637315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7124" y="468579"/>
            <a:ext cx="10215721" cy="7458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A97FE-5189-D1C2-3B77-94B6F484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460457-F18D-F2BD-305A-F440459E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10297-34D2-B766-BFD0-1A16EA90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72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D28F14-82B9-6EED-5401-DC3ECF34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124" y="468578"/>
            <a:ext cx="13889355" cy="1701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9B5CCC-93BB-87D1-FF55-A3DBFB83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124" y="2342887"/>
            <a:ext cx="13889355" cy="5584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22C21B-6BF3-A219-9B97-477B40B01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123" y="8157317"/>
            <a:ext cx="3623310" cy="468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33274-464F-4729-8BE6-4CB991F10D09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D179E-8C3D-68AF-B683-86F62A6E0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319" y="8157317"/>
            <a:ext cx="5434965" cy="468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0F1389-13A5-06AD-5933-7548FB96D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3168" y="8157317"/>
            <a:ext cx="3623310" cy="468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55268-3CBA-42B8-A418-672FAF468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底图A 浙江省地质图 原始上传图片 可更换可调整裁剪">
            <a:extLst>
              <a:ext uri="{FF2B5EF4-FFF2-40B4-BE49-F238E27FC236}">
                <a16:creationId xmlns:a16="http://schemas.microsoft.com/office/drawing/2014/main" id="{82273800-826C-1214-0BE8-B092EDF4C6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" t="6952" r="7431" b="20626"/>
          <a:stretch>
            <a:fillRect/>
          </a:stretch>
        </p:blipFill>
        <p:spPr>
          <a:xfrm>
            <a:off x="558800" y="482600"/>
            <a:ext cx="6375400" cy="6223000"/>
          </a:xfrm>
          <a:prstGeom prst="rect">
            <a:avLst/>
          </a:prstGeom>
        </p:spPr>
      </p:pic>
      <p:pic>
        <p:nvPicPr>
          <p:cNvPr id="5" name="底图B 杭州幅 原始上传图片 可更换可调整裁剪">
            <a:extLst>
              <a:ext uri="{FF2B5EF4-FFF2-40B4-BE49-F238E27FC236}">
                <a16:creationId xmlns:a16="http://schemas.microsoft.com/office/drawing/2014/main" id="{B8F7F653-F445-7C4C-5868-F1BEF00BAD6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5" t="11723" r="19607" b="13375"/>
          <a:stretch>
            <a:fillRect/>
          </a:stretch>
        </p:blipFill>
        <p:spPr>
          <a:xfrm>
            <a:off x="8470900" y="482600"/>
            <a:ext cx="7137400" cy="5511800"/>
          </a:xfrm>
          <a:prstGeom prst="rect">
            <a:avLst/>
          </a:prstGeom>
        </p:spPr>
      </p:pic>
      <p:sp>
        <p:nvSpPr>
          <p:cNvPr id="6" name="A图外框 可编辑">
            <a:extLst>
              <a:ext uri="{FF2B5EF4-FFF2-40B4-BE49-F238E27FC236}">
                <a16:creationId xmlns:a16="http://schemas.microsoft.com/office/drawing/2014/main" id="{D35F7765-D30F-1D28-5C2C-AEF2A580E254}"/>
              </a:ext>
            </a:extLst>
          </p:cNvPr>
          <p:cNvSpPr/>
          <p:nvPr/>
        </p:nvSpPr>
        <p:spPr>
          <a:xfrm>
            <a:off x="558800" y="482600"/>
            <a:ext cx="6375400" cy="6223000"/>
          </a:xfrm>
          <a:prstGeom prst="rect">
            <a:avLst/>
          </a:prstGeom>
          <a:noFill/>
          <a:ln w="1524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B图外框 可编辑">
            <a:extLst>
              <a:ext uri="{FF2B5EF4-FFF2-40B4-BE49-F238E27FC236}">
                <a16:creationId xmlns:a16="http://schemas.microsoft.com/office/drawing/2014/main" id="{866B242A-0E97-83AD-9F18-404420043766}"/>
              </a:ext>
            </a:extLst>
          </p:cNvPr>
          <p:cNvSpPr/>
          <p:nvPr/>
        </p:nvSpPr>
        <p:spPr>
          <a:xfrm>
            <a:off x="8470900" y="482600"/>
            <a:ext cx="7137400" cy="5511800"/>
          </a:xfrm>
          <a:prstGeom prst="rect">
            <a:avLst/>
          </a:prstGeom>
          <a:noFill/>
          <a:ln w="1524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分图A标题 可编辑">
            <a:extLst>
              <a:ext uri="{FF2B5EF4-FFF2-40B4-BE49-F238E27FC236}">
                <a16:creationId xmlns:a16="http://schemas.microsoft.com/office/drawing/2014/main" id="{3ECCF81F-9DAB-5B59-510F-BCE28FA7E510}"/>
              </a:ext>
            </a:extLst>
          </p:cNvPr>
          <p:cNvSpPr txBox="1"/>
          <p:nvPr/>
        </p:nvSpPr>
        <p:spPr>
          <a:xfrm>
            <a:off x="711200" y="12700"/>
            <a:ext cx="3231654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图件在浙江省的位置</a:t>
            </a:r>
          </a:p>
        </p:txBody>
      </p:sp>
      <p:sp>
        <p:nvSpPr>
          <p:cNvPr id="9" name="分图B标题 可编辑">
            <a:extLst>
              <a:ext uri="{FF2B5EF4-FFF2-40B4-BE49-F238E27FC236}">
                <a16:creationId xmlns:a16="http://schemas.microsoft.com/office/drawing/2014/main" id="{C13E3530-1F82-14F9-3534-4859C1445686}"/>
              </a:ext>
            </a:extLst>
          </p:cNvPr>
          <p:cNvSpPr txBox="1"/>
          <p:nvPr/>
        </p:nvSpPr>
        <p:spPr>
          <a:xfrm>
            <a:off x="8623300" y="12700"/>
            <a:ext cx="3231654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杭州幅与局部研究区</a:t>
            </a:r>
          </a:p>
        </p:txBody>
      </p:sp>
      <p:sp>
        <p:nvSpPr>
          <p:cNvPr id="10" name="A图 杭州幅覆盖范围 红色实线框 可编辑">
            <a:extLst>
              <a:ext uri="{FF2B5EF4-FFF2-40B4-BE49-F238E27FC236}">
                <a16:creationId xmlns:a16="http://schemas.microsoft.com/office/drawing/2014/main" id="{D769FF6E-D0CF-BB5A-2EC4-213C5543E5DD}"/>
              </a:ext>
            </a:extLst>
          </p:cNvPr>
          <p:cNvSpPr/>
          <p:nvPr/>
        </p:nvSpPr>
        <p:spPr>
          <a:xfrm>
            <a:off x="3149600" y="1689100"/>
            <a:ext cx="1219200" cy="952500"/>
          </a:xfrm>
          <a:prstGeom prst="rect">
            <a:avLst/>
          </a:prstGeom>
          <a:noFill/>
          <a:ln w="38100" cap="flat" cmpd="sng" algn="ctr">
            <a:solidFill>
              <a:srgbClr val="BC202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图 杭州幅覆盖范围文字 可编辑">
            <a:extLst>
              <a:ext uri="{FF2B5EF4-FFF2-40B4-BE49-F238E27FC236}">
                <a16:creationId xmlns:a16="http://schemas.microsoft.com/office/drawing/2014/main" id="{088706B1-6650-279C-7386-C5EAE7CE36A1}"/>
              </a:ext>
            </a:extLst>
          </p:cNvPr>
          <p:cNvSpPr txBox="1"/>
          <p:nvPr/>
        </p:nvSpPr>
        <p:spPr>
          <a:xfrm>
            <a:off x="1968500" y="774700"/>
            <a:ext cx="1885131" cy="323165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BC202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杭州幅覆盖范围</a:t>
            </a:r>
          </a:p>
        </p:txBody>
      </p:sp>
      <p:cxnSp>
        <p:nvCxnSpPr>
          <p:cNvPr id="12" name="A图 范围引线 可编辑">
            <a:extLst>
              <a:ext uri="{FF2B5EF4-FFF2-40B4-BE49-F238E27FC236}">
                <a16:creationId xmlns:a16="http://schemas.microsoft.com/office/drawing/2014/main" id="{5F1A134A-D7AE-B570-427D-0B0B5B2F314A}"/>
              </a:ext>
            </a:extLst>
          </p:cNvPr>
          <p:cNvCxnSpPr/>
          <p:nvPr/>
        </p:nvCxnSpPr>
        <p:spPr>
          <a:xfrm>
            <a:off x="2946400" y="1181100"/>
            <a:ext cx="190500" cy="495300"/>
          </a:xfrm>
          <a:prstGeom prst="line">
            <a:avLst/>
          </a:prstGeom>
          <a:ln w="25400">
            <a:solidFill>
              <a:srgbClr val="BC202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图 局部研究区位置红点 可编辑">
            <a:extLst>
              <a:ext uri="{FF2B5EF4-FFF2-40B4-BE49-F238E27FC236}">
                <a16:creationId xmlns:a16="http://schemas.microsoft.com/office/drawing/2014/main" id="{E8885048-B18A-E834-E3C4-7807DFD75178}"/>
              </a:ext>
            </a:extLst>
          </p:cNvPr>
          <p:cNvSpPr/>
          <p:nvPr/>
        </p:nvSpPr>
        <p:spPr>
          <a:xfrm>
            <a:off x="3340100" y="2032000"/>
            <a:ext cx="127000" cy="127000"/>
          </a:xfrm>
          <a:prstGeom prst="ellipse">
            <a:avLst/>
          </a:prstGeom>
          <a:solidFill>
            <a:srgbClr val="BC20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A到B 上侧放大连线 可编辑">
            <a:extLst>
              <a:ext uri="{FF2B5EF4-FFF2-40B4-BE49-F238E27FC236}">
                <a16:creationId xmlns:a16="http://schemas.microsoft.com/office/drawing/2014/main" id="{D6B892DF-E585-4114-3ECB-4734B3D68403}"/>
              </a:ext>
            </a:extLst>
          </p:cNvPr>
          <p:cNvCxnSpPr/>
          <p:nvPr/>
        </p:nvCxnSpPr>
        <p:spPr>
          <a:xfrm flipV="1">
            <a:off x="4368800" y="482600"/>
            <a:ext cx="4102100" cy="1206500"/>
          </a:xfrm>
          <a:prstGeom prst="line">
            <a:avLst/>
          </a:prstGeom>
          <a:ln w="13970" cap="rnd">
            <a:solidFill>
              <a:srgbClr val="737373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到B 下侧放大连线 可编辑">
            <a:extLst>
              <a:ext uri="{FF2B5EF4-FFF2-40B4-BE49-F238E27FC236}">
                <a16:creationId xmlns:a16="http://schemas.microsoft.com/office/drawing/2014/main" id="{5FEE268B-3BEE-A803-0D02-EF517D3FE995}"/>
              </a:ext>
            </a:extLst>
          </p:cNvPr>
          <p:cNvCxnSpPr/>
          <p:nvPr/>
        </p:nvCxnSpPr>
        <p:spPr>
          <a:xfrm>
            <a:off x="4368800" y="2641600"/>
            <a:ext cx="4102100" cy="3352800"/>
          </a:xfrm>
          <a:prstGeom prst="line">
            <a:avLst/>
          </a:prstGeom>
          <a:ln w="13970" cap="rnd">
            <a:solidFill>
              <a:srgbClr val="737373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图 杭州幅覆盖边框 红色实线 可编辑">
            <a:extLst>
              <a:ext uri="{FF2B5EF4-FFF2-40B4-BE49-F238E27FC236}">
                <a16:creationId xmlns:a16="http://schemas.microsoft.com/office/drawing/2014/main" id="{AB33B32D-F0F5-61CC-64E0-66C14E1F5CD7}"/>
              </a:ext>
            </a:extLst>
          </p:cNvPr>
          <p:cNvSpPr/>
          <p:nvPr/>
        </p:nvSpPr>
        <p:spPr>
          <a:xfrm>
            <a:off x="8470900" y="482600"/>
            <a:ext cx="7137400" cy="5511800"/>
          </a:xfrm>
          <a:prstGeom prst="rect">
            <a:avLst/>
          </a:prstGeom>
          <a:noFill/>
          <a:ln w="27940" cap="flat" cmpd="sng" algn="ctr">
            <a:solidFill>
              <a:srgbClr val="BC202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A图 指北箭头">
            <a:extLst>
              <a:ext uri="{FF2B5EF4-FFF2-40B4-BE49-F238E27FC236}">
                <a16:creationId xmlns:a16="http://schemas.microsoft.com/office/drawing/2014/main" id="{0CFA8CA4-69F0-4AB8-7CAC-414407974348}"/>
              </a:ext>
            </a:extLst>
          </p:cNvPr>
          <p:cNvCxnSpPr/>
          <p:nvPr/>
        </p:nvCxnSpPr>
        <p:spPr>
          <a:xfrm flipV="1">
            <a:off x="6426200" y="1447800"/>
            <a:ext cx="0" cy="381000"/>
          </a:xfrm>
          <a:prstGeom prst="line">
            <a:avLst/>
          </a:prstGeom>
          <a:ln w="31750">
            <a:solidFill>
              <a:srgbClr val="0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图 北向文字N">
            <a:extLst>
              <a:ext uri="{FF2B5EF4-FFF2-40B4-BE49-F238E27FC236}">
                <a16:creationId xmlns:a16="http://schemas.microsoft.com/office/drawing/2014/main" id="{6117AF4A-8F63-F007-A617-D61F3E2D7042}"/>
              </a:ext>
            </a:extLst>
          </p:cNvPr>
          <p:cNvSpPr txBox="1"/>
          <p:nvPr/>
        </p:nvSpPr>
        <p:spPr>
          <a:xfrm>
            <a:off x="6299200" y="1854200"/>
            <a:ext cx="213200" cy="353943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2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2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9" name="B图 指北箭头">
            <a:extLst>
              <a:ext uri="{FF2B5EF4-FFF2-40B4-BE49-F238E27FC236}">
                <a16:creationId xmlns:a16="http://schemas.microsoft.com/office/drawing/2014/main" id="{2A854D3D-D88E-3E5E-91DF-9B0F533022E6}"/>
              </a:ext>
            </a:extLst>
          </p:cNvPr>
          <p:cNvCxnSpPr/>
          <p:nvPr/>
        </p:nvCxnSpPr>
        <p:spPr>
          <a:xfrm flipV="1">
            <a:off x="14973300" y="1117600"/>
            <a:ext cx="0" cy="381000"/>
          </a:xfrm>
          <a:prstGeom prst="line">
            <a:avLst/>
          </a:prstGeom>
          <a:ln w="31750">
            <a:solidFill>
              <a:srgbClr val="0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图 北向文字N">
            <a:extLst>
              <a:ext uri="{FF2B5EF4-FFF2-40B4-BE49-F238E27FC236}">
                <a16:creationId xmlns:a16="http://schemas.microsoft.com/office/drawing/2014/main" id="{84660059-34AB-6D17-B13C-95354BD87A54}"/>
              </a:ext>
            </a:extLst>
          </p:cNvPr>
          <p:cNvSpPr txBox="1"/>
          <p:nvPr/>
        </p:nvSpPr>
        <p:spPr>
          <a:xfrm>
            <a:off x="14846300" y="1524000"/>
            <a:ext cx="213200" cy="353943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2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2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1" name="B图 经度刻度0 可编辑">
            <a:extLst>
              <a:ext uri="{FF2B5EF4-FFF2-40B4-BE49-F238E27FC236}">
                <a16:creationId xmlns:a16="http://schemas.microsoft.com/office/drawing/2014/main" id="{E86AD7D4-455F-3E0A-3F39-27FE54277092}"/>
              </a:ext>
            </a:extLst>
          </p:cNvPr>
          <p:cNvCxnSpPr/>
          <p:nvPr/>
        </p:nvCxnSpPr>
        <p:spPr>
          <a:xfrm>
            <a:off x="8470900" y="5994400"/>
            <a:ext cx="0" cy="8890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图 经度标签0 可编辑">
            <a:extLst>
              <a:ext uri="{FF2B5EF4-FFF2-40B4-BE49-F238E27FC236}">
                <a16:creationId xmlns:a16="http://schemas.microsoft.com/office/drawing/2014/main" id="{60D8A6B6-0093-2223-D1CF-C693E347A5B0}"/>
              </a:ext>
            </a:extLst>
          </p:cNvPr>
          <p:cNvSpPr txBox="1"/>
          <p:nvPr/>
        </p:nvSpPr>
        <p:spPr>
          <a:xfrm>
            <a:off x="7848600" y="6121400"/>
            <a:ext cx="884858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120°00′E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3" name="B图 经度刻度1 可编辑">
            <a:extLst>
              <a:ext uri="{FF2B5EF4-FFF2-40B4-BE49-F238E27FC236}">
                <a16:creationId xmlns:a16="http://schemas.microsoft.com/office/drawing/2014/main" id="{73A20995-69C7-CB62-6325-982CE1796677}"/>
              </a:ext>
            </a:extLst>
          </p:cNvPr>
          <p:cNvCxnSpPr/>
          <p:nvPr/>
        </p:nvCxnSpPr>
        <p:spPr>
          <a:xfrm>
            <a:off x="10255250" y="5994400"/>
            <a:ext cx="0" cy="8890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图 经度标签1 可编辑">
            <a:extLst>
              <a:ext uri="{FF2B5EF4-FFF2-40B4-BE49-F238E27FC236}">
                <a16:creationId xmlns:a16="http://schemas.microsoft.com/office/drawing/2014/main" id="{3C689D4E-1648-EEF8-4D18-2DCCB85940FB}"/>
              </a:ext>
            </a:extLst>
          </p:cNvPr>
          <p:cNvSpPr txBox="1"/>
          <p:nvPr/>
        </p:nvSpPr>
        <p:spPr>
          <a:xfrm>
            <a:off x="9632950" y="6121400"/>
            <a:ext cx="884858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120°15′E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5" name="B图 经度刻度2 可编辑">
            <a:extLst>
              <a:ext uri="{FF2B5EF4-FFF2-40B4-BE49-F238E27FC236}">
                <a16:creationId xmlns:a16="http://schemas.microsoft.com/office/drawing/2014/main" id="{7D046297-8335-BAFE-763B-3B85C3D90E1A}"/>
              </a:ext>
            </a:extLst>
          </p:cNvPr>
          <p:cNvCxnSpPr/>
          <p:nvPr/>
        </p:nvCxnSpPr>
        <p:spPr>
          <a:xfrm>
            <a:off x="12039600" y="5994400"/>
            <a:ext cx="0" cy="8890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图 经度标签2 可编辑">
            <a:extLst>
              <a:ext uri="{FF2B5EF4-FFF2-40B4-BE49-F238E27FC236}">
                <a16:creationId xmlns:a16="http://schemas.microsoft.com/office/drawing/2014/main" id="{012F2A56-8E79-E0CE-6AB0-68E82A178A1C}"/>
              </a:ext>
            </a:extLst>
          </p:cNvPr>
          <p:cNvSpPr txBox="1"/>
          <p:nvPr/>
        </p:nvSpPr>
        <p:spPr>
          <a:xfrm>
            <a:off x="11417300" y="6121400"/>
            <a:ext cx="884858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120°30′E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7" name="B图 经度刻度3 可编辑">
            <a:extLst>
              <a:ext uri="{FF2B5EF4-FFF2-40B4-BE49-F238E27FC236}">
                <a16:creationId xmlns:a16="http://schemas.microsoft.com/office/drawing/2014/main" id="{F6FCE6BF-2933-C9E7-A7A8-D899A71D2216}"/>
              </a:ext>
            </a:extLst>
          </p:cNvPr>
          <p:cNvCxnSpPr/>
          <p:nvPr/>
        </p:nvCxnSpPr>
        <p:spPr>
          <a:xfrm>
            <a:off x="13823950" y="5994400"/>
            <a:ext cx="0" cy="8890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图 经度标签3 可编辑">
            <a:extLst>
              <a:ext uri="{FF2B5EF4-FFF2-40B4-BE49-F238E27FC236}">
                <a16:creationId xmlns:a16="http://schemas.microsoft.com/office/drawing/2014/main" id="{F2430875-F007-7498-FDCB-523A9C0C3778}"/>
              </a:ext>
            </a:extLst>
          </p:cNvPr>
          <p:cNvSpPr txBox="1"/>
          <p:nvPr/>
        </p:nvSpPr>
        <p:spPr>
          <a:xfrm>
            <a:off x="13201650" y="6121400"/>
            <a:ext cx="884858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120°45′E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9" name="B图 经度刻度4 可编辑">
            <a:extLst>
              <a:ext uri="{FF2B5EF4-FFF2-40B4-BE49-F238E27FC236}">
                <a16:creationId xmlns:a16="http://schemas.microsoft.com/office/drawing/2014/main" id="{758836C9-E9F5-E7CE-BC48-04386F906CAE}"/>
              </a:ext>
            </a:extLst>
          </p:cNvPr>
          <p:cNvCxnSpPr/>
          <p:nvPr/>
        </p:nvCxnSpPr>
        <p:spPr>
          <a:xfrm>
            <a:off x="15608300" y="5994400"/>
            <a:ext cx="0" cy="8890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图 经度标签4 可编辑">
            <a:extLst>
              <a:ext uri="{FF2B5EF4-FFF2-40B4-BE49-F238E27FC236}">
                <a16:creationId xmlns:a16="http://schemas.microsoft.com/office/drawing/2014/main" id="{AB6F4FB7-C637-8080-3C2D-5D8348E211F7}"/>
              </a:ext>
            </a:extLst>
          </p:cNvPr>
          <p:cNvSpPr txBox="1"/>
          <p:nvPr/>
        </p:nvSpPr>
        <p:spPr>
          <a:xfrm>
            <a:off x="14986000" y="6121400"/>
            <a:ext cx="884858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121°00′E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1" name="B图 纬度刻度0 可编辑">
            <a:extLst>
              <a:ext uri="{FF2B5EF4-FFF2-40B4-BE49-F238E27FC236}">
                <a16:creationId xmlns:a16="http://schemas.microsoft.com/office/drawing/2014/main" id="{A8440172-82E1-A827-8F12-BE5E2A978592}"/>
              </a:ext>
            </a:extLst>
          </p:cNvPr>
          <p:cNvCxnSpPr/>
          <p:nvPr/>
        </p:nvCxnSpPr>
        <p:spPr>
          <a:xfrm>
            <a:off x="8382000" y="482600"/>
            <a:ext cx="88900" cy="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图 纬度标签0 可编辑">
            <a:extLst>
              <a:ext uri="{FF2B5EF4-FFF2-40B4-BE49-F238E27FC236}">
                <a16:creationId xmlns:a16="http://schemas.microsoft.com/office/drawing/2014/main" id="{106C2D99-0F4A-11EE-81A7-AD43AD504877}"/>
              </a:ext>
            </a:extLst>
          </p:cNvPr>
          <p:cNvSpPr txBox="1"/>
          <p:nvPr/>
        </p:nvSpPr>
        <p:spPr>
          <a:xfrm>
            <a:off x="7378700" y="330200"/>
            <a:ext cx="774251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30°40′N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3" name="B图 纬度刻度1 可编辑">
            <a:extLst>
              <a:ext uri="{FF2B5EF4-FFF2-40B4-BE49-F238E27FC236}">
                <a16:creationId xmlns:a16="http://schemas.microsoft.com/office/drawing/2014/main" id="{7DFE7701-5425-58A1-81D6-8DB1D1CBC01F}"/>
              </a:ext>
            </a:extLst>
          </p:cNvPr>
          <p:cNvCxnSpPr/>
          <p:nvPr/>
        </p:nvCxnSpPr>
        <p:spPr>
          <a:xfrm>
            <a:off x="8382000" y="1860550"/>
            <a:ext cx="88900" cy="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图 纬度标签1 可编辑">
            <a:extLst>
              <a:ext uri="{FF2B5EF4-FFF2-40B4-BE49-F238E27FC236}">
                <a16:creationId xmlns:a16="http://schemas.microsoft.com/office/drawing/2014/main" id="{EAB2F110-76F9-6840-0668-10252B3EB05F}"/>
              </a:ext>
            </a:extLst>
          </p:cNvPr>
          <p:cNvSpPr txBox="1"/>
          <p:nvPr/>
        </p:nvSpPr>
        <p:spPr>
          <a:xfrm>
            <a:off x="7378700" y="1708150"/>
            <a:ext cx="774251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7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30°30′N</a:t>
            </a:r>
            <a:endParaRPr lang="zh-CN" altLang="en-US" sz="17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5" name="B图 纬度刻度2 可编辑">
            <a:extLst>
              <a:ext uri="{FF2B5EF4-FFF2-40B4-BE49-F238E27FC236}">
                <a16:creationId xmlns:a16="http://schemas.microsoft.com/office/drawing/2014/main" id="{9DA003CC-2B5A-E50E-C595-1B649665DD48}"/>
              </a:ext>
            </a:extLst>
          </p:cNvPr>
          <p:cNvCxnSpPr/>
          <p:nvPr/>
        </p:nvCxnSpPr>
        <p:spPr>
          <a:xfrm>
            <a:off x="8382000" y="3238500"/>
            <a:ext cx="88900" cy="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图 纬度标签2 可编辑">
            <a:extLst>
              <a:ext uri="{FF2B5EF4-FFF2-40B4-BE49-F238E27FC236}">
                <a16:creationId xmlns:a16="http://schemas.microsoft.com/office/drawing/2014/main" id="{BBC5074F-6722-F56E-BF1F-C3FF0875CC84}"/>
              </a:ext>
            </a:extLst>
          </p:cNvPr>
          <p:cNvSpPr txBox="1"/>
          <p:nvPr/>
        </p:nvSpPr>
        <p:spPr>
          <a:xfrm>
            <a:off x="7378700" y="3086100"/>
            <a:ext cx="774251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30°20′N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7" name="B图 纬度刻度3 可编辑">
            <a:extLst>
              <a:ext uri="{FF2B5EF4-FFF2-40B4-BE49-F238E27FC236}">
                <a16:creationId xmlns:a16="http://schemas.microsoft.com/office/drawing/2014/main" id="{5618541F-DBF0-6236-F7DA-1089C25D5CD4}"/>
              </a:ext>
            </a:extLst>
          </p:cNvPr>
          <p:cNvCxnSpPr/>
          <p:nvPr/>
        </p:nvCxnSpPr>
        <p:spPr>
          <a:xfrm>
            <a:off x="8382000" y="4616450"/>
            <a:ext cx="88900" cy="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B图 纬度标签3 可编辑">
            <a:extLst>
              <a:ext uri="{FF2B5EF4-FFF2-40B4-BE49-F238E27FC236}">
                <a16:creationId xmlns:a16="http://schemas.microsoft.com/office/drawing/2014/main" id="{11AD03E8-F3DF-B052-C327-EA20EBA42A41}"/>
              </a:ext>
            </a:extLst>
          </p:cNvPr>
          <p:cNvSpPr txBox="1"/>
          <p:nvPr/>
        </p:nvSpPr>
        <p:spPr>
          <a:xfrm>
            <a:off x="7378700" y="4464050"/>
            <a:ext cx="774251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30°10′N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9" name="B图 纬度刻度4 可编辑">
            <a:extLst>
              <a:ext uri="{FF2B5EF4-FFF2-40B4-BE49-F238E27FC236}">
                <a16:creationId xmlns:a16="http://schemas.microsoft.com/office/drawing/2014/main" id="{B72F6399-B535-260B-E832-3C0CF423996F}"/>
              </a:ext>
            </a:extLst>
          </p:cNvPr>
          <p:cNvCxnSpPr/>
          <p:nvPr/>
        </p:nvCxnSpPr>
        <p:spPr>
          <a:xfrm>
            <a:off x="8382000" y="5994400"/>
            <a:ext cx="88900" cy="0"/>
          </a:xfrm>
          <a:prstGeom prst="line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B图 纬度标签4 可编辑">
            <a:extLst>
              <a:ext uri="{FF2B5EF4-FFF2-40B4-BE49-F238E27FC236}">
                <a16:creationId xmlns:a16="http://schemas.microsoft.com/office/drawing/2014/main" id="{E7B7193F-57D8-9755-0506-CA65809C4FE3}"/>
              </a:ext>
            </a:extLst>
          </p:cNvPr>
          <p:cNvSpPr txBox="1"/>
          <p:nvPr/>
        </p:nvSpPr>
        <p:spPr>
          <a:xfrm>
            <a:off x="7378700" y="5842000"/>
            <a:ext cx="774251" cy="2616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7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30°00′N</a:t>
            </a:r>
            <a:endParaRPr lang="zh-CN" altLang="en-US" sz="17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B图 研究区经纬度包络框 黑色虚线 可编辑">
            <a:extLst>
              <a:ext uri="{FF2B5EF4-FFF2-40B4-BE49-F238E27FC236}">
                <a16:creationId xmlns:a16="http://schemas.microsoft.com/office/drawing/2014/main" id="{6253095B-0A31-23AE-307D-36467CF6386E}"/>
              </a:ext>
            </a:extLst>
          </p:cNvPr>
          <p:cNvSpPr/>
          <p:nvPr/>
        </p:nvSpPr>
        <p:spPr>
          <a:xfrm>
            <a:off x="9629291" y="2566842"/>
            <a:ext cx="586276" cy="507033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B图 局部研究区说明文字 可编辑">
            <a:extLst>
              <a:ext uri="{FF2B5EF4-FFF2-40B4-BE49-F238E27FC236}">
                <a16:creationId xmlns:a16="http://schemas.microsoft.com/office/drawing/2014/main" id="{68ED1169-48E8-7457-8CBA-96D5C5FF15AA}"/>
              </a:ext>
            </a:extLst>
          </p:cNvPr>
          <p:cNvSpPr txBox="1"/>
          <p:nvPr/>
        </p:nvSpPr>
        <p:spPr>
          <a:xfrm>
            <a:off x="10795000" y="1460500"/>
            <a:ext cx="1615827" cy="646331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局部研究区
经纬度包络框</a:t>
            </a:r>
          </a:p>
        </p:txBody>
      </p:sp>
      <p:cxnSp>
        <p:nvCxnSpPr>
          <p:cNvPr id="43" name="B图 局部研究区指示箭头 可编辑">
            <a:extLst>
              <a:ext uri="{FF2B5EF4-FFF2-40B4-BE49-F238E27FC236}">
                <a16:creationId xmlns:a16="http://schemas.microsoft.com/office/drawing/2014/main" id="{766A2669-3F16-5610-5253-2E5750E6DA2A}"/>
              </a:ext>
            </a:extLst>
          </p:cNvPr>
          <p:cNvCxnSpPr/>
          <p:nvPr/>
        </p:nvCxnSpPr>
        <p:spPr>
          <a:xfrm flipH="1">
            <a:off x="10266368" y="2171700"/>
            <a:ext cx="833432" cy="648659"/>
          </a:xfrm>
          <a:prstGeom prst="line">
            <a:avLst/>
          </a:prstGeom>
          <a:ln w="25400">
            <a:solidFill>
              <a:srgbClr val="0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图 比例尺文字 可编辑">
            <a:extLst>
              <a:ext uri="{FF2B5EF4-FFF2-40B4-BE49-F238E27FC236}">
                <a16:creationId xmlns:a16="http://schemas.microsoft.com/office/drawing/2014/main" id="{5E61D9B1-EFBA-63C3-4AAD-11B2AA25D8CF}"/>
              </a:ext>
            </a:extLst>
          </p:cNvPr>
          <p:cNvSpPr txBox="1"/>
          <p:nvPr/>
        </p:nvSpPr>
        <p:spPr>
          <a:xfrm>
            <a:off x="12827000" y="5219700"/>
            <a:ext cx="908903" cy="292388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约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 km</a:t>
            </a:r>
            <a:endParaRPr lang="zh-CN" altLang="en-US" sz="19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B图 10km比例尺黑色段 可编辑">
            <a:extLst>
              <a:ext uri="{FF2B5EF4-FFF2-40B4-BE49-F238E27FC236}">
                <a16:creationId xmlns:a16="http://schemas.microsoft.com/office/drawing/2014/main" id="{4DD5B177-3B61-FD23-9BB7-EB97B9A0D643}"/>
              </a:ext>
            </a:extLst>
          </p:cNvPr>
          <p:cNvSpPr/>
          <p:nvPr/>
        </p:nvSpPr>
        <p:spPr>
          <a:xfrm>
            <a:off x="12865099" y="5588000"/>
            <a:ext cx="870803" cy="45719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A图 底图说明 可编辑">
            <a:extLst>
              <a:ext uri="{FF2B5EF4-FFF2-40B4-BE49-F238E27FC236}">
                <a16:creationId xmlns:a16="http://schemas.microsoft.com/office/drawing/2014/main" id="{0ABB1B12-DEB8-AF32-4C60-A26C71B7983F}"/>
              </a:ext>
            </a:extLst>
          </p:cNvPr>
          <p:cNvSpPr txBox="1"/>
          <p:nvPr/>
        </p:nvSpPr>
        <p:spPr>
          <a:xfrm>
            <a:off x="558800" y="6845300"/>
            <a:ext cx="3642023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底图：浙江省地质图，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1∶500000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B图 底图说明 可编辑">
            <a:extLst>
              <a:ext uri="{FF2B5EF4-FFF2-40B4-BE49-F238E27FC236}">
                <a16:creationId xmlns:a16="http://schemas.microsoft.com/office/drawing/2014/main" id="{FCF501F4-92B2-1062-7271-4BF3098454BA}"/>
              </a:ext>
            </a:extLst>
          </p:cNvPr>
          <p:cNvSpPr txBox="1"/>
          <p:nvPr/>
        </p:nvSpPr>
        <p:spPr>
          <a:xfrm>
            <a:off x="8445500" y="6794500"/>
            <a:ext cx="2872581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底图：杭州幅，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1∶200000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研究区经度范围 可编辑">
            <a:extLst>
              <a:ext uri="{FF2B5EF4-FFF2-40B4-BE49-F238E27FC236}">
                <a16:creationId xmlns:a16="http://schemas.microsoft.com/office/drawing/2014/main" id="{D1AD1D55-12EF-72C4-E8B4-2A6C77EA1B50}"/>
              </a:ext>
            </a:extLst>
          </p:cNvPr>
          <p:cNvSpPr txBox="1"/>
          <p:nvPr/>
        </p:nvSpPr>
        <p:spPr>
          <a:xfrm>
            <a:off x="8445500" y="7188200"/>
            <a:ext cx="3800720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研究区：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120.1623°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～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120.2444°E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研究区纬度范围 可编辑">
            <a:extLst>
              <a:ext uri="{FF2B5EF4-FFF2-40B4-BE49-F238E27FC236}">
                <a16:creationId xmlns:a16="http://schemas.microsoft.com/office/drawing/2014/main" id="{E6397988-E7B6-D99C-B919-B576508530BB}"/>
              </a:ext>
            </a:extLst>
          </p:cNvPr>
          <p:cNvSpPr txBox="1"/>
          <p:nvPr/>
        </p:nvSpPr>
        <p:spPr>
          <a:xfrm>
            <a:off x="8445500" y="7556500"/>
            <a:ext cx="3529812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　　　　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30.3532°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～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30.4146°N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图例说明 可编辑">
            <a:extLst>
              <a:ext uri="{FF2B5EF4-FFF2-40B4-BE49-F238E27FC236}">
                <a16:creationId xmlns:a16="http://schemas.microsoft.com/office/drawing/2014/main" id="{B9F4231E-FB50-6334-4887-A867169FA063}"/>
              </a:ext>
            </a:extLst>
          </p:cNvPr>
          <p:cNvSpPr txBox="1"/>
          <p:nvPr/>
        </p:nvSpPr>
        <p:spPr>
          <a:xfrm>
            <a:off x="558800" y="8051800"/>
            <a:ext cx="85408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红色实线：杭州幅覆盖范围；黑色虚线：局部研究区经纬度包络框（非实际边界）。</a:t>
            </a:r>
          </a:p>
        </p:txBody>
      </p:sp>
      <p:sp>
        <p:nvSpPr>
          <p:cNvPr id="52" name="近似定位说明 可编辑">
            <a:extLst>
              <a:ext uri="{FF2B5EF4-FFF2-40B4-BE49-F238E27FC236}">
                <a16:creationId xmlns:a16="http://schemas.microsoft.com/office/drawing/2014/main" id="{9FB777AF-209A-5377-B1AD-4DAB7730E2BF}"/>
              </a:ext>
            </a:extLst>
          </p:cNvPr>
          <p:cNvSpPr txBox="1"/>
          <p:nvPr/>
        </p:nvSpPr>
        <p:spPr>
          <a:xfrm>
            <a:off x="558800" y="8420100"/>
            <a:ext cx="6976269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说明：按原图图框经纬网近似定位，非精确地理配准成果；不表示行政区界。</a:t>
            </a:r>
          </a:p>
        </p:txBody>
      </p:sp>
    </p:spTree>
    <p:extLst>
      <p:ext uri="{BB962C8B-B14F-4D97-AF65-F5344CB8AC3E}">
        <p14:creationId xmlns:p14="http://schemas.microsoft.com/office/powerpoint/2010/main" val="213811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自定义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3</cp:revision>
  <dcterms:created xsi:type="dcterms:W3CDTF">2026-10-25T03:30:38Z</dcterms:created>
  <dcterms:modified xsi:type="dcterms:W3CDTF">2026-10-25T03:33:34Z</dcterms:modified>
</cp:coreProperties>
</file>