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6116300" cy="96901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8D586-B9FE-4A64-9D11-F82446464B2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62013" y="1143000"/>
            <a:ext cx="5133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FC940-D8D2-4C7B-85FF-839E88FEC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08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FC940-D8D2-4C7B-85FF-839E88FEC91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887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5D3F0-23DA-87B7-53DB-0583AF9BE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539" y="1585857"/>
            <a:ext cx="12087225" cy="337359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85AE46-B434-895F-D990-FE8E0399A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4539" y="5089549"/>
            <a:ext cx="12087225" cy="233953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4AB47-2311-AAB1-358D-D1D7B39DC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C6DE75-76BE-6A25-E877-B615C08CD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9CDD45-7300-819D-F2D6-A51ED74C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785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42AB8-52C8-8DE2-686D-2CF09E34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4C9D7-84CB-2D02-FC83-C3B1E9CA7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078DF3-08A7-6805-4DBE-E7166A701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ECB1CD-CF42-6261-C7B3-1B03A287E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16101-7F57-30DB-F4AD-AE00555D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6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BA5CC-B365-D327-EB29-B818C6409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603" y="2415797"/>
            <a:ext cx="13900309" cy="40308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EC2CF6-0348-D847-F89A-530977AA5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9603" y="6484745"/>
            <a:ext cx="13900309" cy="211970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2AF039-90D6-0194-284F-C5B7637E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E73414-BFC9-0789-9F9F-00D13C17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F18901-65E6-6C60-19D0-E500E673D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51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F335AA-BB0A-D3D1-CB55-B430D5B15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E4735B-0240-9791-B3D2-287D79E9B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7995" y="2579543"/>
            <a:ext cx="6849428" cy="61482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270EA1-F8EF-AFD6-BDFE-272B5A3F2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58877" y="2579543"/>
            <a:ext cx="6849428" cy="61482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4BFADA-A9B5-E07C-BC2F-FFFA43A6F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B2A5E8-F96F-88B4-C5DE-9950B7A72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49ADC8-B5A7-BF8B-CAD3-F1A4EE31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51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C191D-59DD-DD98-0A66-8DFB5B1B2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096" y="515909"/>
            <a:ext cx="13900309" cy="18729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5D605D-F8B0-3294-E49D-8621274E1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0097" y="2375423"/>
            <a:ext cx="6817950" cy="116415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794E18-3EF3-80E3-6BD0-FF2E5253C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0097" y="3539579"/>
            <a:ext cx="6817950" cy="5206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1EBE3A-A4D2-5FAA-8E31-E811F792A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58878" y="2375423"/>
            <a:ext cx="6851527" cy="116415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9E0DEE-A1E2-F5D5-2E39-5F4632FFF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58878" y="3539579"/>
            <a:ext cx="6851527" cy="5206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B941E9-3A94-1D25-F960-1DC71125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8F4E45-2104-C6B9-CB74-DC44E4ED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F12D9A-5D99-1697-AB4B-CDFB14805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461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664F3-88E5-64E9-AD17-8A62774F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CB6D7E-8F6D-D157-0D0E-CC257974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335A02-EE9D-EA79-342F-DD5E7ABE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A4E26A-5580-79B3-0329-B26C183F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1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2FAF3F-666C-C780-6611-44772161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9BB0DE-2FE6-33F5-7B88-650843A7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A95D2D-DD0D-9791-D99C-6BF10244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72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089A2-C055-5CEA-8DDB-E73556AF1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097" y="646008"/>
            <a:ext cx="5197926" cy="22610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3CEA7F-957F-4442-81C6-3D2E8E4BD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528" y="1395196"/>
            <a:ext cx="8158877" cy="68862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C9BA83-9A94-4E46-7FF3-F7076E86A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0097" y="2907030"/>
            <a:ext cx="5197926" cy="53856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559117-8CB2-96E2-ECA2-7874522D3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FA781D-1782-0D6F-E312-54495D09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0ECDB9-9A13-57C6-7C18-ECF977EF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366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4D337-E337-4C17-F650-3D7F4438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097" y="646008"/>
            <a:ext cx="5197926" cy="22610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FE32BD-C761-848C-8F6A-92B960D23C3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6851528" y="1395196"/>
            <a:ext cx="8158877" cy="68862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22DB11-68EA-37D3-0D68-BB6BEDCD3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0097" y="2907030"/>
            <a:ext cx="5197926" cy="53856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EBF355-4653-FDE7-6420-BF5CE71E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922F22-DE65-D41B-604A-E887F363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9716A0-D0CA-F722-06CF-86A77BA0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56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69498-9C6D-CD22-95A8-7CFEE8F58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959130-8A9C-A47C-2AC0-7DC2F54FA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F2D6EC-AC3E-B913-A37E-806BC39FD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45B000-3251-FC99-31FF-575E7D37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C0484F-4E99-B526-CE53-0720627F1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550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6EAD6C-1761-3F7C-C750-B0186922D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533228" y="515910"/>
            <a:ext cx="3475077" cy="82119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A60F73-DCF7-22C4-1AB8-2DBB1876F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07996" y="515910"/>
            <a:ext cx="10223778" cy="82119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8D2368-60FF-9982-CBD7-4E03B165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D9CE0B-24BB-12CA-168F-CFE50C03F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C2D753-DC22-113A-2D5D-B3286945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20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9485F5-17AD-8417-949A-E1631DB1B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997" y="515909"/>
            <a:ext cx="13900309" cy="1872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6612CE-9A4F-C433-8DFD-ED7ED3F37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7997" y="2579543"/>
            <a:ext cx="13900309" cy="6148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2DA12E-0FE7-A542-92D7-7CC4E0BBA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7995" y="8981288"/>
            <a:ext cx="3626168" cy="51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2E233D-816A-7FFA-EEEA-2D61470FA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8526" y="8981288"/>
            <a:ext cx="5439251" cy="51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4AE7CA-F2ED-8D6B-B8B4-00B118E73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2137" y="8981288"/>
            <a:ext cx="3626168" cy="51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932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分图a标题 可编辑">
            <a:extLst>
              <a:ext uri="{FF2B5EF4-FFF2-40B4-BE49-F238E27FC236}">
                <a16:creationId xmlns:a16="http://schemas.microsoft.com/office/drawing/2014/main" id="{689AF9D8-9CF2-E00B-1EFF-1DC6528E9035}"/>
              </a:ext>
            </a:extLst>
          </p:cNvPr>
          <p:cNvSpPr txBox="1"/>
          <p:nvPr/>
        </p:nvSpPr>
        <p:spPr>
          <a:xfrm>
            <a:off x="126999" y="772393"/>
            <a:ext cx="51435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(a) 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图例检测（</a:t>
            </a:r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82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个候选图例项）</a:t>
            </a:r>
          </a:p>
        </p:txBody>
      </p:sp>
      <p:sp>
        <p:nvSpPr>
          <p:cNvPr id="5" name="分图b标题 可编辑">
            <a:extLst>
              <a:ext uri="{FF2B5EF4-FFF2-40B4-BE49-F238E27FC236}">
                <a16:creationId xmlns:a16="http://schemas.microsoft.com/office/drawing/2014/main" id="{7DA60EB3-9FBA-381F-EFB4-18AF0061D893}"/>
              </a:ext>
            </a:extLst>
          </p:cNvPr>
          <p:cNvSpPr txBox="1"/>
          <p:nvPr/>
        </p:nvSpPr>
        <p:spPr>
          <a:xfrm>
            <a:off x="5460999" y="505693"/>
            <a:ext cx="51943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(b) 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色彩提取（</a:t>
            </a:r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41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种独立颜色）</a:t>
            </a:r>
          </a:p>
        </p:txBody>
      </p:sp>
      <p:sp>
        <p:nvSpPr>
          <p:cNvPr id="6" name="分图c标题 可编辑">
            <a:extLst>
              <a:ext uri="{FF2B5EF4-FFF2-40B4-BE49-F238E27FC236}">
                <a16:creationId xmlns:a16="http://schemas.microsoft.com/office/drawing/2014/main" id="{1818230A-6A03-B8C4-3C2B-00B45E196222}"/>
              </a:ext>
            </a:extLst>
          </p:cNvPr>
          <p:cNvSpPr txBox="1"/>
          <p:nvPr/>
        </p:nvSpPr>
        <p:spPr>
          <a:xfrm>
            <a:off x="10795000" y="772393"/>
            <a:ext cx="51435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(c) 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自适应区域分割（</a:t>
            </a:r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5129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个多边形）</a:t>
            </a:r>
          </a:p>
        </p:txBody>
      </p:sp>
      <p:sp>
        <p:nvSpPr>
          <p:cNvPr id="7" name="分图d标题 可编辑">
            <a:extLst>
              <a:ext uri="{FF2B5EF4-FFF2-40B4-BE49-F238E27FC236}">
                <a16:creationId xmlns:a16="http://schemas.microsoft.com/office/drawing/2014/main" id="{90BBD617-992A-012C-1F8F-CD64476B874B}"/>
              </a:ext>
            </a:extLst>
          </p:cNvPr>
          <p:cNvSpPr txBox="1"/>
          <p:nvPr/>
        </p:nvSpPr>
        <p:spPr>
          <a:xfrm>
            <a:off x="126999" y="4988793"/>
            <a:ext cx="51435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(d) 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边界强化与区域匹配</a:t>
            </a:r>
          </a:p>
        </p:txBody>
      </p:sp>
      <p:sp>
        <p:nvSpPr>
          <p:cNvPr id="8" name="分图e标题 可编辑">
            <a:extLst>
              <a:ext uri="{FF2B5EF4-FFF2-40B4-BE49-F238E27FC236}">
                <a16:creationId xmlns:a16="http://schemas.microsoft.com/office/drawing/2014/main" id="{D2FAD645-8E14-F2DE-BEB2-27D62B3F9254}"/>
              </a:ext>
            </a:extLst>
          </p:cNvPr>
          <p:cNvSpPr txBox="1"/>
          <p:nvPr/>
        </p:nvSpPr>
        <p:spPr>
          <a:xfrm>
            <a:off x="5460999" y="4734793"/>
            <a:ext cx="51943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(e) 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图例属性表（</a:t>
            </a:r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6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个采样项）</a:t>
            </a:r>
          </a:p>
        </p:txBody>
      </p:sp>
      <p:sp>
        <p:nvSpPr>
          <p:cNvPr id="9" name="分图f标题 可编辑">
            <a:extLst>
              <a:ext uri="{FF2B5EF4-FFF2-40B4-BE49-F238E27FC236}">
                <a16:creationId xmlns:a16="http://schemas.microsoft.com/office/drawing/2014/main" id="{9BFCB9E3-46AD-4388-D836-6B2F39609BE3}"/>
              </a:ext>
            </a:extLst>
          </p:cNvPr>
          <p:cNvSpPr txBox="1"/>
          <p:nvPr/>
        </p:nvSpPr>
        <p:spPr>
          <a:xfrm>
            <a:off x="10807699" y="4734793"/>
            <a:ext cx="51435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(f) </a:t>
            </a:r>
            <a:r>
              <a:rPr lang="zh-CN" altLang="en-US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核心定量指标</a:t>
            </a:r>
          </a:p>
        </p:txBody>
      </p:sp>
      <p:pic>
        <p:nvPicPr>
          <p:cNvPr id="11" name="a YOLOv10图例检测结果 图像可替换可裁剪">
            <a:extLst>
              <a:ext uri="{FF2B5EF4-FFF2-40B4-BE49-F238E27FC236}">
                <a16:creationId xmlns:a16="http://schemas.microsoft.com/office/drawing/2014/main" id="{832879FC-2FF0-E1FA-70DD-2BFF40E59AD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" t="18873" r="67297" b="47445"/>
          <a:stretch>
            <a:fillRect/>
          </a:stretch>
        </p:blipFill>
        <p:spPr>
          <a:xfrm>
            <a:off x="127000" y="1039094"/>
            <a:ext cx="5143500" cy="3263900"/>
          </a:xfrm>
          <a:prstGeom prst="rect">
            <a:avLst/>
          </a:prstGeom>
        </p:spPr>
      </p:pic>
      <p:pic>
        <p:nvPicPr>
          <p:cNvPr id="13" name="c 自适应区域分割结果 图像可替换可裁剪">
            <a:extLst>
              <a:ext uri="{FF2B5EF4-FFF2-40B4-BE49-F238E27FC236}">
                <a16:creationId xmlns:a16="http://schemas.microsoft.com/office/drawing/2014/main" id="{16A92949-9D43-31AC-871A-214BA5F6AD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82" t="18873" r="1104" b="47445"/>
          <a:stretch>
            <a:fillRect/>
          </a:stretch>
        </p:blipFill>
        <p:spPr>
          <a:xfrm>
            <a:off x="10795000" y="1039094"/>
            <a:ext cx="5143500" cy="3263900"/>
          </a:xfrm>
          <a:prstGeom prst="rect">
            <a:avLst/>
          </a:prstGeom>
        </p:spPr>
      </p:pic>
      <p:pic>
        <p:nvPicPr>
          <p:cNvPr id="15" name="d 边界强化与区域匹配结果 图像可替换可裁剪">
            <a:extLst>
              <a:ext uri="{FF2B5EF4-FFF2-40B4-BE49-F238E27FC236}">
                <a16:creationId xmlns:a16="http://schemas.microsoft.com/office/drawing/2014/main" id="{E77F35C3-78E8-60CA-21FF-F49DC2EA68C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" t="62254" r="67297" b="3932"/>
          <a:stretch>
            <a:fillRect/>
          </a:stretch>
        </p:blipFill>
        <p:spPr>
          <a:xfrm>
            <a:off x="127000" y="5242794"/>
            <a:ext cx="5143500" cy="3276600"/>
          </a:xfrm>
          <a:prstGeom prst="rect">
            <a:avLst/>
          </a:prstGeom>
        </p:spPr>
      </p:pic>
      <p:sp>
        <p:nvSpPr>
          <p:cNvPr id="16" name="b 代表性色块1 可编辑填色">
            <a:extLst>
              <a:ext uri="{FF2B5EF4-FFF2-40B4-BE49-F238E27FC236}">
                <a16:creationId xmlns:a16="http://schemas.microsoft.com/office/drawing/2014/main" id="{69D540A0-542E-4244-FD19-BCC466DB30B8}"/>
              </a:ext>
            </a:extLst>
          </p:cNvPr>
          <p:cNvSpPr/>
          <p:nvPr/>
        </p:nvSpPr>
        <p:spPr>
          <a:xfrm>
            <a:off x="6197600" y="823194"/>
            <a:ext cx="1549400" cy="914400"/>
          </a:xfrm>
          <a:prstGeom prst="rect">
            <a:avLst/>
          </a:prstGeom>
          <a:solidFill>
            <a:srgbClr val="F1CCB2"/>
          </a:solidFill>
          <a:ln w="12700">
            <a:solidFill>
              <a:srgbClr val="11111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b 色块1 RGB数值 可编辑">
            <a:extLst>
              <a:ext uri="{FF2B5EF4-FFF2-40B4-BE49-F238E27FC236}">
                <a16:creationId xmlns:a16="http://schemas.microsoft.com/office/drawing/2014/main" id="{2019359D-1909-C57B-47DE-E1DFBAF80447}"/>
              </a:ext>
            </a:extLst>
          </p:cNvPr>
          <p:cNvSpPr txBox="1"/>
          <p:nvPr/>
        </p:nvSpPr>
        <p:spPr>
          <a:xfrm>
            <a:off x="6070599" y="1775694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RGB(241,204,178)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b 色块1 HEX编码 可编辑">
            <a:extLst>
              <a:ext uri="{FF2B5EF4-FFF2-40B4-BE49-F238E27FC236}">
                <a16:creationId xmlns:a16="http://schemas.microsoft.com/office/drawing/2014/main" id="{422584B7-2A40-E3FE-B1EA-8F93894A3C2A}"/>
              </a:ext>
            </a:extLst>
          </p:cNvPr>
          <p:cNvSpPr txBox="1"/>
          <p:nvPr/>
        </p:nvSpPr>
        <p:spPr>
          <a:xfrm>
            <a:off x="6070599" y="1953493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900">
                <a:solidFill>
                  <a:srgbClr val="50505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#f1ccb2</a:t>
            </a:r>
            <a:endParaRPr lang="zh-CN" altLang="en-US" sz="900">
              <a:solidFill>
                <a:srgbClr val="5050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b 代表性色块2 可编辑填色">
            <a:extLst>
              <a:ext uri="{FF2B5EF4-FFF2-40B4-BE49-F238E27FC236}">
                <a16:creationId xmlns:a16="http://schemas.microsoft.com/office/drawing/2014/main" id="{7E3E4824-5933-4C88-C53E-DD502ED89FB6}"/>
              </a:ext>
            </a:extLst>
          </p:cNvPr>
          <p:cNvSpPr/>
          <p:nvPr/>
        </p:nvSpPr>
        <p:spPr>
          <a:xfrm>
            <a:off x="8534400" y="823194"/>
            <a:ext cx="1549400" cy="914400"/>
          </a:xfrm>
          <a:prstGeom prst="rect">
            <a:avLst/>
          </a:prstGeom>
          <a:solidFill>
            <a:srgbClr val="FF9EC3"/>
          </a:solidFill>
          <a:ln w="12700">
            <a:solidFill>
              <a:srgbClr val="11111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b 色块2 RGB数值 可编辑">
            <a:extLst>
              <a:ext uri="{FF2B5EF4-FFF2-40B4-BE49-F238E27FC236}">
                <a16:creationId xmlns:a16="http://schemas.microsoft.com/office/drawing/2014/main" id="{0BDE40EA-39D4-DC81-4D11-99A734546EFC}"/>
              </a:ext>
            </a:extLst>
          </p:cNvPr>
          <p:cNvSpPr txBox="1"/>
          <p:nvPr/>
        </p:nvSpPr>
        <p:spPr>
          <a:xfrm>
            <a:off x="8407399" y="1775694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RGB(255,158,195)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b 色块2 HEX编码 可编辑">
            <a:extLst>
              <a:ext uri="{FF2B5EF4-FFF2-40B4-BE49-F238E27FC236}">
                <a16:creationId xmlns:a16="http://schemas.microsoft.com/office/drawing/2014/main" id="{AB9D87EE-935E-3833-FB11-31B92F48DFFB}"/>
              </a:ext>
            </a:extLst>
          </p:cNvPr>
          <p:cNvSpPr txBox="1"/>
          <p:nvPr/>
        </p:nvSpPr>
        <p:spPr>
          <a:xfrm>
            <a:off x="8407399" y="1953493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900">
                <a:solidFill>
                  <a:srgbClr val="50505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#ff9ec3</a:t>
            </a:r>
            <a:endParaRPr lang="zh-CN" altLang="en-US" sz="900">
              <a:solidFill>
                <a:srgbClr val="5050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b 代表性色块3 可编辑填色">
            <a:extLst>
              <a:ext uri="{FF2B5EF4-FFF2-40B4-BE49-F238E27FC236}">
                <a16:creationId xmlns:a16="http://schemas.microsoft.com/office/drawing/2014/main" id="{4AE5AF3E-DF77-E89F-CFAF-34B67BAE42E8}"/>
              </a:ext>
            </a:extLst>
          </p:cNvPr>
          <p:cNvSpPr/>
          <p:nvPr/>
        </p:nvSpPr>
        <p:spPr>
          <a:xfrm>
            <a:off x="6197600" y="2359894"/>
            <a:ext cx="1549400" cy="914400"/>
          </a:xfrm>
          <a:prstGeom prst="rect">
            <a:avLst/>
          </a:prstGeom>
          <a:solidFill>
            <a:srgbClr val="00FB01"/>
          </a:solidFill>
          <a:ln w="12700">
            <a:solidFill>
              <a:srgbClr val="11111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b 色块3 RGB数值 可编辑">
            <a:extLst>
              <a:ext uri="{FF2B5EF4-FFF2-40B4-BE49-F238E27FC236}">
                <a16:creationId xmlns:a16="http://schemas.microsoft.com/office/drawing/2014/main" id="{5B14EC8B-4578-3AF7-A25C-4EFD78998DD9}"/>
              </a:ext>
            </a:extLst>
          </p:cNvPr>
          <p:cNvSpPr txBox="1"/>
          <p:nvPr/>
        </p:nvSpPr>
        <p:spPr>
          <a:xfrm>
            <a:off x="6070599" y="3312394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RGB(0,251,1)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b 色块3 HEX编码 可编辑">
            <a:extLst>
              <a:ext uri="{FF2B5EF4-FFF2-40B4-BE49-F238E27FC236}">
                <a16:creationId xmlns:a16="http://schemas.microsoft.com/office/drawing/2014/main" id="{54F9C3D3-AA4A-FF09-1810-16216677F10A}"/>
              </a:ext>
            </a:extLst>
          </p:cNvPr>
          <p:cNvSpPr txBox="1"/>
          <p:nvPr/>
        </p:nvSpPr>
        <p:spPr>
          <a:xfrm>
            <a:off x="6070599" y="3490193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900">
                <a:solidFill>
                  <a:srgbClr val="50505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#00fb01</a:t>
            </a:r>
            <a:endParaRPr lang="zh-CN" altLang="en-US" sz="900">
              <a:solidFill>
                <a:srgbClr val="5050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b 代表性色块4 可编辑填色">
            <a:extLst>
              <a:ext uri="{FF2B5EF4-FFF2-40B4-BE49-F238E27FC236}">
                <a16:creationId xmlns:a16="http://schemas.microsoft.com/office/drawing/2014/main" id="{286BFECE-1A30-59DD-24FA-ED885736301C}"/>
              </a:ext>
            </a:extLst>
          </p:cNvPr>
          <p:cNvSpPr/>
          <p:nvPr/>
        </p:nvSpPr>
        <p:spPr>
          <a:xfrm>
            <a:off x="8534400" y="2359894"/>
            <a:ext cx="1549400" cy="914400"/>
          </a:xfrm>
          <a:prstGeom prst="rect">
            <a:avLst/>
          </a:prstGeom>
          <a:solidFill>
            <a:srgbClr val="F00C0C"/>
          </a:solidFill>
          <a:ln w="12700">
            <a:solidFill>
              <a:srgbClr val="11111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b 色块4 RGB数值 可编辑">
            <a:extLst>
              <a:ext uri="{FF2B5EF4-FFF2-40B4-BE49-F238E27FC236}">
                <a16:creationId xmlns:a16="http://schemas.microsoft.com/office/drawing/2014/main" id="{1C46521F-7DC4-2A71-08DE-C15C20C2C09E}"/>
              </a:ext>
            </a:extLst>
          </p:cNvPr>
          <p:cNvSpPr txBox="1"/>
          <p:nvPr/>
        </p:nvSpPr>
        <p:spPr>
          <a:xfrm>
            <a:off x="8407399" y="3312394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RGB(240,12,12)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b 色块4 HEX编码 可编辑">
            <a:extLst>
              <a:ext uri="{FF2B5EF4-FFF2-40B4-BE49-F238E27FC236}">
                <a16:creationId xmlns:a16="http://schemas.microsoft.com/office/drawing/2014/main" id="{EF976EF4-04B3-C241-35B2-B67AF2F40785}"/>
              </a:ext>
            </a:extLst>
          </p:cNvPr>
          <p:cNvSpPr txBox="1"/>
          <p:nvPr/>
        </p:nvSpPr>
        <p:spPr>
          <a:xfrm>
            <a:off x="8407399" y="3490193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900">
                <a:solidFill>
                  <a:srgbClr val="50505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#f00c0c</a:t>
            </a:r>
            <a:endParaRPr lang="zh-CN" altLang="en-US" sz="900">
              <a:solidFill>
                <a:srgbClr val="5050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28" name="e 六个采样图例属性 原生可编辑表格">
            <a:extLst>
              <a:ext uri="{FF2B5EF4-FFF2-40B4-BE49-F238E27FC236}">
                <a16:creationId xmlns:a16="http://schemas.microsoft.com/office/drawing/2014/main" id="{4BA29200-6AEE-E482-2153-692CE473F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374934"/>
              </p:ext>
            </p:extLst>
          </p:nvPr>
        </p:nvGraphicFramePr>
        <p:xfrm>
          <a:off x="5461000" y="5242794"/>
          <a:ext cx="51943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80676671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31067075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1166825546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355045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ID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Color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RGB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Y(px)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032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26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(241,204,178)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1300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7638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(255,158,195)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2956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735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48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(151,254,136)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4608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8729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27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(255,183,135)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6264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2874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67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(0,0,0)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7915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73637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43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(240,7,7)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9569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865710"/>
                  </a:ext>
                </a:extLst>
              </a:tr>
            </a:tbl>
          </a:graphicData>
        </a:graphic>
      </p:graphicFrame>
      <p:cxnSp>
        <p:nvCxnSpPr>
          <p:cNvPr id="29" name="e 属性表表头下分隔线 可编辑">
            <a:extLst>
              <a:ext uri="{FF2B5EF4-FFF2-40B4-BE49-F238E27FC236}">
                <a16:creationId xmlns:a16="http://schemas.microsoft.com/office/drawing/2014/main" id="{DAFB9BF0-FC68-B428-B280-89685CB5DF27}"/>
              </a:ext>
            </a:extLst>
          </p:cNvPr>
          <p:cNvCxnSpPr/>
          <p:nvPr/>
        </p:nvCxnSpPr>
        <p:spPr>
          <a:xfrm>
            <a:off x="5461000" y="5699994"/>
            <a:ext cx="5194300" cy="0"/>
          </a:xfrm>
          <a:prstGeom prst="line">
            <a:avLst/>
          </a:prstGeom>
          <a:ln w="762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 第1行RGB色块 可编辑填色">
            <a:extLst>
              <a:ext uri="{FF2B5EF4-FFF2-40B4-BE49-F238E27FC236}">
                <a16:creationId xmlns:a16="http://schemas.microsoft.com/office/drawing/2014/main" id="{0E941A2F-91A9-E003-7F1A-7C9070AB29EB}"/>
              </a:ext>
            </a:extLst>
          </p:cNvPr>
          <p:cNvSpPr/>
          <p:nvPr/>
        </p:nvSpPr>
        <p:spPr>
          <a:xfrm>
            <a:off x="6654800" y="5788894"/>
            <a:ext cx="622300" cy="279400"/>
          </a:xfrm>
          <a:prstGeom prst="rect">
            <a:avLst/>
          </a:prstGeom>
          <a:solidFill>
            <a:srgbClr val="F1C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e 第2行RGB色块 可编辑填色">
            <a:extLst>
              <a:ext uri="{FF2B5EF4-FFF2-40B4-BE49-F238E27FC236}">
                <a16:creationId xmlns:a16="http://schemas.microsoft.com/office/drawing/2014/main" id="{677ACEE1-CDC7-61CE-16AE-F157120369CD}"/>
              </a:ext>
            </a:extLst>
          </p:cNvPr>
          <p:cNvSpPr/>
          <p:nvPr/>
        </p:nvSpPr>
        <p:spPr>
          <a:xfrm>
            <a:off x="6654800" y="6246094"/>
            <a:ext cx="622300" cy="279400"/>
          </a:xfrm>
          <a:prstGeom prst="rect">
            <a:avLst/>
          </a:prstGeom>
          <a:solidFill>
            <a:srgbClr val="FF9E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e 第3行RGB色块 可编辑填色">
            <a:extLst>
              <a:ext uri="{FF2B5EF4-FFF2-40B4-BE49-F238E27FC236}">
                <a16:creationId xmlns:a16="http://schemas.microsoft.com/office/drawing/2014/main" id="{52B97FA8-5723-7D62-9480-6207D887C1C3}"/>
              </a:ext>
            </a:extLst>
          </p:cNvPr>
          <p:cNvSpPr/>
          <p:nvPr/>
        </p:nvSpPr>
        <p:spPr>
          <a:xfrm>
            <a:off x="6654800" y="6703294"/>
            <a:ext cx="622300" cy="279400"/>
          </a:xfrm>
          <a:prstGeom prst="rect">
            <a:avLst/>
          </a:prstGeom>
          <a:solidFill>
            <a:srgbClr val="97FE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e 第4行RGB色块 可编辑填色">
            <a:extLst>
              <a:ext uri="{FF2B5EF4-FFF2-40B4-BE49-F238E27FC236}">
                <a16:creationId xmlns:a16="http://schemas.microsoft.com/office/drawing/2014/main" id="{C899E168-581F-55DB-A659-8124CF2B667A}"/>
              </a:ext>
            </a:extLst>
          </p:cNvPr>
          <p:cNvSpPr/>
          <p:nvPr/>
        </p:nvSpPr>
        <p:spPr>
          <a:xfrm>
            <a:off x="6654800" y="7160494"/>
            <a:ext cx="622300" cy="279400"/>
          </a:xfrm>
          <a:prstGeom prst="rect">
            <a:avLst/>
          </a:prstGeom>
          <a:solidFill>
            <a:srgbClr val="FFB7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e 第5行RGB色块 可编辑填色">
            <a:extLst>
              <a:ext uri="{FF2B5EF4-FFF2-40B4-BE49-F238E27FC236}">
                <a16:creationId xmlns:a16="http://schemas.microsoft.com/office/drawing/2014/main" id="{B6CB3050-5D0B-299C-4CC2-B2C2F616E13B}"/>
              </a:ext>
            </a:extLst>
          </p:cNvPr>
          <p:cNvSpPr/>
          <p:nvPr/>
        </p:nvSpPr>
        <p:spPr>
          <a:xfrm>
            <a:off x="6654800" y="7617694"/>
            <a:ext cx="622300" cy="2794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e 第6行RGB色块 可编辑填色">
            <a:extLst>
              <a:ext uri="{FF2B5EF4-FFF2-40B4-BE49-F238E27FC236}">
                <a16:creationId xmlns:a16="http://schemas.microsoft.com/office/drawing/2014/main" id="{C8459FDB-9786-0FB1-A587-E7FB78E2EF22}"/>
              </a:ext>
            </a:extLst>
          </p:cNvPr>
          <p:cNvSpPr/>
          <p:nvPr/>
        </p:nvSpPr>
        <p:spPr>
          <a:xfrm>
            <a:off x="6654800" y="8074894"/>
            <a:ext cx="622300" cy="279400"/>
          </a:xfrm>
          <a:prstGeom prst="rect">
            <a:avLst/>
          </a:prstGeom>
          <a:solidFill>
            <a:srgbClr val="F007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f 指标1名称 可编辑">
            <a:extLst>
              <a:ext uri="{FF2B5EF4-FFF2-40B4-BE49-F238E27FC236}">
                <a16:creationId xmlns:a16="http://schemas.microsoft.com/office/drawing/2014/main" id="{2D5C60E1-EF81-9DCB-4A59-147D22DE9AE7}"/>
              </a:ext>
            </a:extLst>
          </p:cNvPr>
          <p:cNvSpPr txBox="1"/>
          <p:nvPr/>
        </p:nvSpPr>
        <p:spPr>
          <a:xfrm>
            <a:off x="10972799" y="548409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检测图例项数</a:t>
            </a:r>
          </a:p>
        </p:txBody>
      </p:sp>
      <p:sp>
        <p:nvSpPr>
          <p:cNvPr id="38" name="f 指标1数值 可编辑">
            <a:extLst>
              <a:ext uri="{FF2B5EF4-FFF2-40B4-BE49-F238E27FC236}">
                <a16:creationId xmlns:a16="http://schemas.microsoft.com/office/drawing/2014/main" id="{7B94E46F-80EE-48A8-FB28-CAB1CF4205BF}"/>
              </a:ext>
            </a:extLst>
          </p:cNvPr>
          <p:cNvSpPr txBox="1"/>
          <p:nvPr/>
        </p:nvSpPr>
        <p:spPr>
          <a:xfrm>
            <a:off x="13309600" y="548409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82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f 指标2名称 可编辑">
            <a:extLst>
              <a:ext uri="{FF2B5EF4-FFF2-40B4-BE49-F238E27FC236}">
                <a16:creationId xmlns:a16="http://schemas.microsoft.com/office/drawing/2014/main" id="{2AD6BC83-1109-51F3-7BB1-4D156AE43555}"/>
              </a:ext>
            </a:extLst>
          </p:cNvPr>
          <p:cNvSpPr txBox="1"/>
          <p:nvPr/>
        </p:nvSpPr>
        <p:spPr>
          <a:xfrm>
            <a:off x="10972800" y="586890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独立颜色数</a:t>
            </a:r>
          </a:p>
        </p:txBody>
      </p:sp>
      <p:sp>
        <p:nvSpPr>
          <p:cNvPr id="40" name="f 指标2数值 可编辑">
            <a:extLst>
              <a:ext uri="{FF2B5EF4-FFF2-40B4-BE49-F238E27FC236}">
                <a16:creationId xmlns:a16="http://schemas.microsoft.com/office/drawing/2014/main" id="{8E59C6E6-E5C2-A838-1F6E-5ED278567587}"/>
              </a:ext>
            </a:extLst>
          </p:cNvPr>
          <p:cNvSpPr txBox="1"/>
          <p:nvPr/>
        </p:nvSpPr>
        <p:spPr>
          <a:xfrm>
            <a:off x="13309600" y="586890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41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f 指标3名称 可编辑">
            <a:extLst>
              <a:ext uri="{FF2B5EF4-FFF2-40B4-BE49-F238E27FC236}">
                <a16:creationId xmlns:a16="http://schemas.microsoft.com/office/drawing/2014/main" id="{C6CF5524-52FD-BE2B-549F-C70BD76234A5}"/>
              </a:ext>
            </a:extLst>
          </p:cNvPr>
          <p:cNvSpPr txBox="1"/>
          <p:nvPr/>
        </p:nvSpPr>
        <p:spPr>
          <a:xfrm>
            <a:off x="10972800" y="625371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分割区域数</a:t>
            </a:r>
          </a:p>
        </p:txBody>
      </p:sp>
      <p:sp>
        <p:nvSpPr>
          <p:cNvPr id="42" name="f 指标3数值 可编辑">
            <a:extLst>
              <a:ext uri="{FF2B5EF4-FFF2-40B4-BE49-F238E27FC236}">
                <a16:creationId xmlns:a16="http://schemas.microsoft.com/office/drawing/2014/main" id="{D262A56B-CF0D-163F-F112-33D56F9AA035}"/>
              </a:ext>
            </a:extLst>
          </p:cNvPr>
          <p:cNvSpPr txBox="1"/>
          <p:nvPr/>
        </p:nvSpPr>
        <p:spPr>
          <a:xfrm>
            <a:off x="13309599" y="625371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5,129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f 指标4名称 可编辑">
            <a:extLst>
              <a:ext uri="{FF2B5EF4-FFF2-40B4-BE49-F238E27FC236}">
                <a16:creationId xmlns:a16="http://schemas.microsoft.com/office/drawing/2014/main" id="{8A58BAFD-77EE-56AE-6142-5A4264F9F735}"/>
              </a:ext>
            </a:extLst>
          </p:cNvPr>
          <p:cNvSpPr txBox="1"/>
          <p:nvPr/>
        </p:nvSpPr>
        <p:spPr>
          <a:xfrm>
            <a:off x="10972799" y="663852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区域</a:t>
            </a:r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</a:t>
            </a:r>
            <a:r>
              <a:rPr lang="zh-CN" altLang="en-US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图例匹配数</a:t>
            </a:r>
          </a:p>
        </p:txBody>
      </p:sp>
      <p:sp>
        <p:nvSpPr>
          <p:cNvPr id="44" name="f 指标4数值 可编辑">
            <a:extLst>
              <a:ext uri="{FF2B5EF4-FFF2-40B4-BE49-F238E27FC236}">
                <a16:creationId xmlns:a16="http://schemas.microsoft.com/office/drawing/2014/main" id="{7D01BEB6-4828-304B-1973-6EF554C331D4}"/>
              </a:ext>
            </a:extLst>
          </p:cNvPr>
          <p:cNvSpPr txBox="1"/>
          <p:nvPr/>
        </p:nvSpPr>
        <p:spPr>
          <a:xfrm>
            <a:off x="13309599" y="663852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5,129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5" name="f 指标5名称 可编辑">
            <a:extLst>
              <a:ext uri="{FF2B5EF4-FFF2-40B4-BE49-F238E27FC236}">
                <a16:creationId xmlns:a16="http://schemas.microsoft.com/office/drawing/2014/main" id="{D55E7048-559E-5154-6194-019ED041669D}"/>
              </a:ext>
            </a:extLst>
          </p:cNvPr>
          <p:cNvSpPr txBox="1"/>
          <p:nvPr/>
        </p:nvSpPr>
        <p:spPr>
          <a:xfrm>
            <a:off x="10972799" y="702333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图例覆盖率</a:t>
            </a:r>
          </a:p>
        </p:txBody>
      </p:sp>
      <p:sp>
        <p:nvSpPr>
          <p:cNvPr id="46" name="f 指标5数值 可编辑">
            <a:extLst>
              <a:ext uri="{FF2B5EF4-FFF2-40B4-BE49-F238E27FC236}">
                <a16:creationId xmlns:a16="http://schemas.microsoft.com/office/drawing/2014/main" id="{395B4AC8-2D66-C72E-9CF8-1928EEFFFF05}"/>
              </a:ext>
            </a:extLst>
          </p:cNvPr>
          <p:cNvSpPr txBox="1"/>
          <p:nvPr/>
        </p:nvSpPr>
        <p:spPr>
          <a:xfrm>
            <a:off x="13309599" y="702333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74.4% (61/82)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f 指标6名称 可编辑">
            <a:extLst>
              <a:ext uri="{FF2B5EF4-FFF2-40B4-BE49-F238E27FC236}">
                <a16:creationId xmlns:a16="http://schemas.microsoft.com/office/drawing/2014/main" id="{8DCF3658-F06D-42AA-039F-6E5FADF64F06}"/>
              </a:ext>
            </a:extLst>
          </p:cNvPr>
          <p:cNvSpPr txBox="1"/>
          <p:nvPr/>
        </p:nvSpPr>
        <p:spPr>
          <a:xfrm>
            <a:off x="10972800" y="740814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匹配置信度</a:t>
            </a:r>
          </a:p>
        </p:txBody>
      </p:sp>
      <p:sp>
        <p:nvSpPr>
          <p:cNvPr id="48" name="f 指标6数值 可编辑">
            <a:extLst>
              <a:ext uri="{FF2B5EF4-FFF2-40B4-BE49-F238E27FC236}">
                <a16:creationId xmlns:a16="http://schemas.microsoft.com/office/drawing/2014/main" id="{639F41D6-8DAC-DAA2-EA23-6AAD09037FD2}"/>
              </a:ext>
            </a:extLst>
          </p:cNvPr>
          <p:cNvSpPr txBox="1"/>
          <p:nvPr/>
        </p:nvSpPr>
        <p:spPr>
          <a:xfrm>
            <a:off x="13309600" y="740814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0.95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9" name="f 指标7名称 可编辑">
            <a:extLst>
              <a:ext uri="{FF2B5EF4-FFF2-40B4-BE49-F238E27FC236}">
                <a16:creationId xmlns:a16="http://schemas.microsoft.com/office/drawing/2014/main" id="{54950142-9E88-1365-6ACA-C7174A9DE8FC}"/>
              </a:ext>
            </a:extLst>
          </p:cNvPr>
          <p:cNvSpPr txBox="1"/>
          <p:nvPr/>
        </p:nvSpPr>
        <p:spPr>
          <a:xfrm>
            <a:off x="10972800" y="779295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平均轮廓点数</a:t>
            </a:r>
          </a:p>
        </p:txBody>
      </p:sp>
      <p:sp>
        <p:nvSpPr>
          <p:cNvPr id="50" name="f 指标7数值 可编辑">
            <a:extLst>
              <a:ext uri="{FF2B5EF4-FFF2-40B4-BE49-F238E27FC236}">
                <a16:creationId xmlns:a16="http://schemas.microsoft.com/office/drawing/2014/main" id="{67D9DEC0-7701-C79C-D4A2-E7D5393AE92B}"/>
              </a:ext>
            </a:extLst>
          </p:cNvPr>
          <p:cNvSpPr txBox="1"/>
          <p:nvPr/>
        </p:nvSpPr>
        <p:spPr>
          <a:xfrm>
            <a:off x="13309600" y="779295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12.9 (simplified)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f 指标8名称 可编辑">
            <a:extLst>
              <a:ext uri="{FF2B5EF4-FFF2-40B4-BE49-F238E27FC236}">
                <a16:creationId xmlns:a16="http://schemas.microsoft.com/office/drawing/2014/main" id="{B715D5D9-369E-3AAC-DAA8-BB3D96D2FA83}"/>
              </a:ext>
            </a:extLst>
          </p:cNvPr>
          <p:cNvSpPr txBox="1"/>
          <p:nvPr/>
        </p:nvSpPr>
        <p:spPr>
          <a:xfrm>
            <a:off x="10972800" y="817776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分割方法</a:t>
            </a:r>
          </a:p>
        </p:txBody>
      </p:sp>
      <p:sp>
        <p:nvSpPr>
          <p:cNvPr id="52" name="f 指标8数值 可编辑">
            <a:extLst>
              <a:ext uri="{FF2B5EF4-FFF2-40B4-BE49-F238E27FC236}">
                <a16:creationId xmlns:a16="http://schemas.microsoft.com/office/drawing/2014/main" id="{237FC903-50E1-52DC-6FA1-342292D37F5D}"/>
              </a:ext>
            </a:extLst>
          </p:cNvPr>
          <p:cNvSpPr txBox="1"/>
          <p:nvPr/>
        </p:nvSpPr>
        <p:spPr>
          <a:xfrm>
            <a:off x="13309600" y="817776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YOLOv10-seg + Manhattan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4819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207</Words>
  <Application>Microsoft Office PowerPoint</Application>
  <PresentationFormat>自定义</PresentationFormat>
  <Paragraphs>53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啸天 张</dc:creator>
  <cp:lastModifiedBy>啸天 张</cp:lastModifiedBy>
  <cp:revision>5</cp:revision>
  <dcterms:created xsi:type="dcterms:W3CDTF">2026-10-25T03:43:50Z</dcterms:created>
  <dcterms:modified xsi:type="dcterms:W3CDTF">2026-10-25T03:50:27Z</dcterms:modified>
</cp:coreProperties>
</file>